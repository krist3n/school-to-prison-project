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84AE18-F590-4BBB-8090-C15D706D68BD}">
  <a:tblStyle styleId="{1B84AE18-F590-4BBB-8090-C15D706D68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c3c31751a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c3c31751a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ccd48b93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ccd48b93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ccd48b93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ccd48b93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c3c31751a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c3c31751a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ccd48b9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ccd48b9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c3c31751a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c3c31751a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c3c31751a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c3c31751a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ccd48b9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ccd48b9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c3c31751a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c3c31751a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c3c31751a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c3c31751a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ccd48b93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ccd48b9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c3c31751a_3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c3c31751a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d6ec4216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d6ec4216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d6ec4216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d6ec4216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ccd48b93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ccd48b93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ccd48b93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ccd48b9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d0c3cec58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d0c3cec5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axis?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c3c31751a_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c3c31751a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b8ff9cd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b8ff9cd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does not include charter schools.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Redacted values ignored in calculations.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ccd48b93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ccd48b93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ec240a288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ec240a288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ccd48b93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ccd48b93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c240a288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ec240a288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b8ff9cd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b8ff9cd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nyc.gov/site/nypd/stats/reports-analysis/school-safety.pag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infohub.nyced.org/reports/government-reports/suspension-report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tandfonline.com/doi/full/10.1080/10282580.2018.1455509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infohub.nyced.org/in-our-schools/operations/lcgms" TargetMode="External"/><Relationship Id="rId4" Type="http://schemas.openxmlformats.org/officeDocument/2006/relationships/hyperlink" Target="https://infohub.nyced.org/reports/students-and-schools/school-quality/information-and-data-overview" TargetMode="External"/><Relationship Id="rId5" Type="http://schemas.openxmlformats.org/officeDocument/2006/relationships/hyperlink" Target="https://infohub.nyced.org/reports/government-reports/suspension-reports" TargetMode="External"/><Relationship Id="rId6" Type="http://schemas.openxmlformats.org/officeDocument/2006/relationships/hyperlink" Target="https://www.nyc.gov/site/nypd/stats/reports-analysis/school-safety.pa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School-to-Prison Pipeline Data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July 19,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Datasets used:</a:t>
            </a:r>
            <a:endParaRPr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NYPD School Safety Act (SSA) Reports on NYPD-involved disciplinary incidents</a:t>
            </a:r>
            <a:endParaRPr sz="1600"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Department of Education (DOE) suspension reports</a:t>
            </a:r>
            <a:endParaRPr sz="1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Analyzed 2022-2023 academic year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Most recent DOE reports included data from the school year 2022-23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 most recent NYPD reports included data from 2024 Q1. We chose to use Q4 2022 through Q2 2023 data to replicate the DOE’s 2022-23 school year timeframe.</a:t>
            </a:r>
            <a:endParaRPr sz="1600"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n"/>
              <a:t>We excluded non-traditional schools (i.e., transfer schools, charter schools, etc.) from our analysis for uniformity purposes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Takeaways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NYPD’s SSA Reports suggest d</a:t>
            </a:r>
            <a:r>
              <a:rPr lang="en"/>
              <a:t>isproportionate</a:t>
            </a:r>
            <a:r>
              <a:rPr lang="en"/>
              <a:t> </a:t>
            </a:r>
            <a:r>
              <a:rPr lang="en"/>
              <a:t>targeting</a:t>
            </a:r>
            <a:r>
              <a:rPr lang="en"/>
              <a:t> of Black and Hispanic students by punitive measures, both citywide and in the Bronx: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students make up 20% of total city-wide enrollment, but 49% of total SSA reports.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students make up 24% of total Bronx enrollment, but 43% of total Bronx SSA reports.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SSA data suggest Bronx public schools are more heavily policed than other boroughs: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Bronx </a:t>
            </a:r>
            <a:r>
              <a:rPr lang="en"/>
              <a:t>students</a:t>
            </a:r>
            <a:r>
              <a:rPr lang="en"/>
              <a:t> make up 19% of total city-wide enrollment, but 25% of total SSA reports.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n"/>
              <a:t>The New York City Department of Education’s (DOE) School Suspension Reports show NYPD-involved removals occur almost exclusively in schools with high poverty rates and few White students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53950" y="18306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Analysis of SSA Reports</a:t>
            </a:r>
            <a:endParaRPr/>
          </a:p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Source: 2022 Q4 - 2023 Q2 data from </a:t>
            </a:r>
            <a:r>
              <a:rPr lang="en" sz="2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NYPD SSA (School Safety Agent) Reports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99382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Citywide SSA Reports by Borough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856725"/>
            <a:ext cx="2808000" cy="27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bar plot compares the five boroughs’ proportion of total city-wide enrollment with their proportion of SSA reports.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Students in the Bronx are disproportionately targeted by SSA reports, as they make up 19% of total city-wide enrollment, but 25% of total SSA reports.</a:t>
            </a:r>
            <a:endParaRPr b="1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575" y="640438"/>
            <a:ext cx="5719499" cy="401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Citywide SSA Reports by Borough (Pie Charts)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450" y="1170125"/>
            <a:ext cx="544308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Citywide SSA Reports by Borough (Table)</a:t>
            </a:r>
            <a:endParaRPr/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290625" y="101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{1B84AE18-F590-4BBB-8090-C15D706D68BD}</a:tableStyleId>
              </a:tblPr>
              <a:tblGrid>
                <a:gridCol w="1712550"/>
                <a:gridCol w="1712550"/>
                <a:gridCol w="1712550"/>
                <a:gridCol w="1712550"/>
                <a:gridCol w="1712550"/>
              </a:tblGrid>
              <a:tr h="61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Borough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Enrollment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% of Total Enrollment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SSA Reports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% of Total SSA Reports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Bronx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170,262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19%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3,155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25%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Brooklyn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269,044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3,636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Manhattan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129,942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1,581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Queens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274,177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2,940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Staten Island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63,552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1,341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906,977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12,653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99382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Citywide SSA Reports by Race/Ethnicity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856725"/>
            <a:ext cx="2808000" cy="27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bar plot compares different racial demographics’ proportion of total city-wide enrollment with their proportion of SSA reports.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Black students are </a:t>
            </a:r>
            <a:r>
              <a:rPr lang="en" sz="1100"/>
              <a:t>disproportionately targeted by SSA reports, as they make up 20% of total city-wide enrollment, but 49% of total SSA reports.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White Non-Hispanic and Asian students are disproportionately excluded from SSA reports, as they make up 16% and 19% of total city-wide enrollment, but only 6% and 4% of total SSA reports (respectively).</a:t>
            </a:r>
            <a:endParaRPr sz="1100"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500" y="640438"/>
            <a:ext cx="5719499" cy="401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Citywide SSA Reports by Race/Ethnicity (Pie Charts)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450" y="1158600"/>
            <a:ext cx="544308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Citywide SSA Reports by Race (Table)</a:t>
            </a:r>
            <a:endParaRPr/>
          </a:p>
        </p:txBody>
      </p:sp>
      <p:graphicFrame>
        <p:nvGraphicFramePr>
          <p:cNvPr id="111" name="Google Shape;111;p22"/>
          <p:cNvGraphicFramePr/>
          <p:nvPr/>
        </p:nvGraphicFramePr>
        <p:xfrm>
          <a:off x="293300" y="101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{1B84AE18-F590-4BBB-8090-C15D706D68BD}</a:tableStyleId>
              </a:tblPr>
              <a:tblGrid>
                <a:gridCol w="1711475"/>
                <a:gridCol w="1711475"/>
                <a:gridCol w="1711475"/>
                <a:gridCol w="1711475"/>
                <a:gridCol w="1711475"/>
              </a:tblGrid>
              <a:tr h="58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Race/Ethnicity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Enrollment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% of Total Enrollment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SSA Reports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% of Total SSA Reports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Black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181,396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6,229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49%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Hispanic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371,001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4,827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White Non-Hispanic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148,103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Asian/Pacific Isl.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168,042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Other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38,435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906,977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12,653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99382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Bronx SSA Reports by Race/Ethnicity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856725"/>
            <a:ext cx="2808000" cy="27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bar plot compares different racial demographics’ proportion of total Bronx enrollment with their proportion of SSA reports.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Black students are disproportionately targeted by SSA incidents, as they make up 24% of total Bronx enrollment, but 43% of total Bronx SSA reports.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White Non-Hispanic and Asian students are disproportionately excluded from SSA reports, as they make up 5% and 6% of total Bronx enrollment, but only 2% and 1% of total Bronx SSA reports (respectively).</a:t>
            </a:r>
            <a:endParaRPr sz="1100"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350" y="564238"/>
            <a:ext cx="5719499" cy="401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Bronx</a:t>
            </a:r>
            <a:r>
              <a:rPr lang="en"/>
              <a:t> SSA Reports by Race/Ethnicity (Pie Charts)</a:t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450" y="1158600"/>
            <a:ext cx="544308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Bronx SSA Reports by Race (Table)</a:t>
            </a:r>
            <a:endParaRPr/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293300" y="101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{1B84AE18-F590-4BBB-8090-C15D706D68BD}</a:tableStyleId>
              </a:tblPr>
              <a:tblGrid>
                <a:gridCol w="1711475"/>
                <a:gridCol w="1711475"/>
                <a:gridCol w="1711475"/>
                <a:gridCol w="1711475"/>
                <a:gridCol w="1711475"/>
              </a:tblGrid>
              <a:tr h="58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Race/Ethnicity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Bronx Enrollment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% of Total Bronx Enrollment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Bronx SSA Reports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% of Total Bronx SSA Reports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Black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40,591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1,368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Hispanic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106,889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1,664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White Non-Hispanic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8,585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Asian/Pacific Isl.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9,571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Other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4,626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170,262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3,155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SSA Reports vs % White Students</a:t>
            </a:r>
            <a:endParaRPr/>
          </a:p>
        </p:txBody>
      </p:sp>
      <p:sp>
        <p:nvSpPr>
          <p:cNvPr id="136" name="Google Shape;136;p26"/>
          <p:cNvSpPr txBox="1"/>
          <p:nvPr>
            <p:ph idx="4294967295" type="body"/>
          </p:nvPr>
        </p:nvSpPr>
        <p:spPr>
          <a:xfrm>
            <a:off x="311700" y="1152475"/>
            <a:ext cx="8340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NYC and Bronx schools with smaller proportions of White students tend to have more SSA reports</a:t>
            </a:r>
            <a:endParaRPr sz="1600"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9650" y="2090575"/>
            <a:ext cx="4374740" cy="274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750" y="2156300"/>
            <a:ext cx="4214851" cy="2616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SSA Reports vs School Poverty Rates</a:t>
            </a:r>
            <a:endParaRPr/>
          </a:p>
        </p:txBody>
      </p:sp>
      <p:sp>
        <p:nvSpPr>
          <p:cNvPr id="144" name="Google Shape;144;p27"/>
          <p:cNvSpPr txBox="1"/>
          <p:nvPr>
            <p:ph idx="4294967295" type="body"/>
          </p:nvPr>
        </p:nvSpPr>
        <p:spPr>
          <a:xfrm>
            <a:off x="311700" y="1152475"/>
            <a:ext cx="8340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NYC and Bronx schools with greater proportions of students experiencing poverty tend to have more SSA reports</a:t>
            </a:r>
            <a:endParaRPr sz="1600"/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50" y="2065625"/>
            <a:ext cx="4265229" cy="27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799" y="2065625"/>
            <a:ext cx="4393551" cy="274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253950" y="1197900"/>
            <a:ext cx="4045200" cy="274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Analysis of Student Discipline Reports</a:t>
            </a:r>
            <a:endParaRPr/>
          </a:p>
        </p:txBody>
      </p:sp>
      <p:sp>
        <p:nvSpPr>
          <p:cNvPr id="152" name="Google Shape;152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Source: 2022-23 data from </a:t>
            </a:r>
            <a:r>
              <a:rPr lang="en" sz="2100" u="sng">
                <a:solidFill>
                  <a:schemeClr val="hlink"/>
                </a:solidFill>
                <a:hlinkClick r:id="rId3"/>
              </a:rPr>
              <a:t>NYCED Suspension Reports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NYPD Removals vs </a:t>
            </a:r>
            <a:r>
              <a:rPr lang="en"/>
              <a:t>School Poverty Rates</a:t>
            </a:r>
            <a:endParaRPr/>
          </a:p>
        </p:txBody>
      </p:sp>
      <p:sp>
        <p:nvSpPr>
          <p:cNvPr id="158" name="Google Shape;158;p29"/>
          <p:cNvSpPr txBox="1"/>
          <p:nvPr>
            <p:ph idx="4294967295" type="body"/>
          </p:nvPr>
        </p:nvSpPr>
        <p:spPr>
          <a:xfrm>
            <a:off x="311700" y="1152475"/>
            <a:ext cx="8340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At least 47% of students experience poverty in all DOE schools with at least 5 NYPD-involved removals 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DOE redacts schools with 1-4 NYPD-involved removals</a:t>
            </a:r>
            <a:endParaRPr sz="1600"/>
          </a:p>
        </p:txBody>
      </p:sp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00" y="2435013"/>
            <a:ext cx="4205625" cy="2633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3139" y="2406412"/>
            <a:ext cx="4302062" cy="26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NYPD Removals vs </a:t>
            </a:r>
            <a:r>
              <a:rPr lang="en"/>
              <a:t>% White Students</a:t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255910"/>
            <a:ext cx="4459124" cy="279241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/>
          <p:nvPr>
            <p:ph idx="4294967295" type="body"/>
          </p:nvPr>
        </p:nvSpPr>
        <p:spPr>
          <a:xfrm>
            <a:off x="311700" y="1152475"/>
            <a:ext cx="8340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White students comprise less than 50% of the student body at most NYC schools and less than 10% of most Bronx schools </a:t>
            </a:r>
            <a:r>
              <a:rPr lang="en" sz="1600"/>
              <a:t>with at least 5 NYPD-involved removals</a:t>
            </a:r>
            <a:endParaRPr sz="1600"/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562" y="2242975"/>
            <a:ext cx="4471037" cy="28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Student Discipline by Borough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This boxplot compares the suspension/removal counts across different public schools in each borough.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No appearable </a:t>
            </a:r>
            <a:r>
              <a:rPr b="1" lang="en" sz="1400"/>
              <a:t>differences in the number of suspensions and removals in individual schools across the boroughs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</a:t>
            </a:r>
            <a:r>
              <a:rPr lang="en" sz="1400"/>
              <a:t>edians are roughly equivalent</a:t>
            </a:r>
            <a:endParaRPr sz="1400"/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575" y="564238"/>
            <a:ext cx="5719499" cy="401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Discipline by Borough (2022-2023)</a:t>
            </a:r>
            <a:endParaRPr/>
          </a:p>
        </p:txBody>
      </p:sp>
      <p:graphicFrame>
        <p:nvGraphicFramePr>
          <p:cNvPr id="181" name="Google Shape;181;p32"/>
          <p:cNvGraphicFramePr/>
          <p:nvPr/>
        </p:nvGraphicFramePr>
        <p:xfrm>
          <a:off x="198675" y="122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{1B84AE18-F590-4BBB-8090-C15D706D68BD}</a:tableStyleId>
              </a:tblPr>
              <a:tblGrid>
                <a:gridCol w="1457775"/>
                <a:gridCol w="1457775"/>
                <a:gridCol w="1457775"/>
                <a:gridCol w="1457775"/>
                <a:gridCol w="1457775"/>
                <a:gridCol w="1457775"/>
              </a:tblGrid>
              <a:tr h="97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Borough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Total Enrollment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Total Removals/Suspensions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Total Removals/Suspensions Where NYPD Was Contacted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%</a:t>
                      </a: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 of Total </a:t>
                      </a: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Removals/Suspensions</a:t>
                      </a: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 to Total Enrollment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%</a:t>
                      </a: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 of Total Removals/Suspensions Where NYPD Was Contacted to Total Removals/Suspensions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4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Bronx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170,262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7,415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155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4.4%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2.1%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Brooklyn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269,044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10,122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304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3.8%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3.0%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Manhattan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129,942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5,193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88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4.0%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1.7%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Queens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274,177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9,829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383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3.6%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3.9%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Staten Island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63,552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3,538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152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5.6%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4.3%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253950" y="1197900"/>
            <a:ext cx="4045200" cy="274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Possible Restorative Justice Solutions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Restorative Justice &amp; School-to-Prison Pipeline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https://www.tandfonline.com/doi/full/10.1080/10282580.2018.1455509</a:t>
            </a:r>
            <a:r>
              <a:rPr lang="en" sz="1600"/>
              <a:t>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“Cole Middle School in Oakland, CA experienced a </a:t>
            </a:r>
            <a:r>
              <a:rPr b="1" lang="en" sz="1400"/>
              <a:t>significant 87% decrease in suspensions and reported no expulsions</a:t>
            </a:r>
            <a:r>
              <a:rPr lang="en" sz="1400"/>
              <a:t> following the adoption of a whole-school restorative justice approach.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Restorative practices in 17 schools in Denver, CO led to a </a:t>
            </a:r>
            <a:r>
              <a:rPr b="1" lang="en" sz="1400"/>
              <a:t>68% decrease in police tickets overall, a 40% decrease in out-of-school suspensions, and an 82% decrease in expulsions</a:t>
            </a:r>
            <a:r>
              <a:rPr lang="en" sz="1400"/>
              <a:t>.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Through restorative circles, conferences, peer mediation, and other restorative methods, the Minnesota Department of Education achieved </a:t>
            </a:r>
            <a:r>
              <a:rPr b="1" lang="en" sz="1400"/>
              <a:t>a reduction in behavioral referrals and suspensions, ranging from 45 to 65 percent</a:t>
            </a:r>
            <a:r>
              <a:rPr lang="en" sz="1400"/>
              <a:t>, as well as an increase in academic achievement in 2 schools.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After introducing several restorative practices, </a:t>
            </a:r>
            <a:r>
              <a:rPr b="1" lang="en" sz="1400"/>
              <a:t>school exclusions were notably reduced in 14 out of 18 public schools</a:t>
            </a:r>
            <a:r>
              <a:rPr lang="en" sz="1400"/>
              <a:t> in Scotland.”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253950" y="18306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Next Steps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&amp; Additional Data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Locate data and perform analysis on charter schools and other non-DOE schools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Determine if schools with high proportions of disabled students are more heavily policed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Data/Sources: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NYCED School Metadata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NYCED Demographic Data</a:t>
            </a:r>
            <a:r>
              <a:rPr lang="en"/>
              <a:t> (under “Demographic Snapshot”... includes “% Poverty” and “Economic Need Index”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NYCED Suspension Reports</a:t>
            </a:r>
            <a:r>
              <a:rPr lang="en"/>
              <a:t> (under “Student Discipline” and “</a:t>
            </a:r>
            <a:r>
              <a:rPr lang="en"/>
              <a:t>NYPD Contacts that Resulted in Suspension”)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NYPD SSA (School Safety Agent) Reports</a:t>
            </a:r>
            <a:r>
              <a:rPr lang="en"/>
              <a:t> (we looked at 2022 Q4 - 2023 Q2 data)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